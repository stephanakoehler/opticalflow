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1749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50208" y="120015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692659" y="2000250"/>
            <a:ext cx="37585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Self-Supervised Optical Flow Tuning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627991" y="2571750"/>
            <a:ext cx="38878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Per-Pixel Quality Estimation Without Ground Truth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992867" y="3257550"/>
            <a:ext cx="11581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18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Stephan Koehler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02081" y="3714750"/>
            <a:ext cx="2139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Koehler Data Analytics and Insights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78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Optical Flow?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476250"/>
            <a:ext cx="8382000" cy="1200150"/>
          </a:xfrm>
          <a:prstGeom prst="roundRect">
            <a:avLst>
              <a:gd name="adj" fmla="val 3175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5300" y="628650"/>
            <a:ext cx="83164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segmentation-free</a:t>
            </a: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method of tracking pixel motion. Minimize energy with two components: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95300" y="876300"/>
            <a:ext cx="8153400" cy="381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0550" y="971550"/>
            <a:ext cx="81221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E(u,v) = Σ ρ_D(I₁(x,y) − I₂(x+u, y+v)) + λ Σ ρ_S(∇u, ∇v)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5300" y="1371600"/>
            <a:ext cx="40416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term:</a:t>
            </a: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brightness constancy — pixels maintain intensity as they move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86300" y="1371600"/>
            <a:ext cx="40416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Smoothness term:</a:t>
            </a: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spatial regularization — neighboring pixels move similarly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1000" y="1771650"/>
            <a:ext cx="4114800" cy="2457450"/>
          </a:xfrm>
          <a:prstGeom prst="roundRect">
            <a:avLst>
              <a:gd name="adj" fmla="val 155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6250" y="1905000"/>
            <a:ext cx="4002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6250" y="2343150"/>
            <a:ext cx="3924300" cy="17907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stabilization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tracking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recognition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vehicles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compression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segmentation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48200" y="2076450"/>
            <a:ext cx="4114800" cy="1847850"/>
          </a:xfrm>
          <a:prstGeom prst="roundRect">
            <a:avLst>
              <a:gd name="adj" fmla="val 206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43450" y="2209800"/>
            <a:ext cx="4002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43450" y="2647950"/>
            <a:ext cx="3924300" cy="11811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motion field — every pixel gets a velocity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object detection or segmentation required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arbitrary textures and objects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for higher-level motion analysis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81000" y="4572000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Sun, Roth &amp; Black (2010). Secrets of Optical Flow Estimation and Their Principles. CVPR.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819150" y="1543050"/>
            <a:ext cx="81027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ground truth at deployment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9150" y="1885950"/>
            <a:ext cx="81027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Optical flow algorithms are tuned offline on benchmarks, but deployed on arbitrary content with no way to measure quality.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9150" y="2647950"/>
            <a:ext cx="81027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changes invalidate tuning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9150" y="2990850"/>
            <a:ext cx="81027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 optimal for one scene may fail catastrophically on another. Different regions need different configurations.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9150" y="3524250"/>
            <a:ext cx="81027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failures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9150" y="3867150"/>
            <a:ext cx="81027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quality estimation, bad optical flow propagates downstream undetected — affecting tracking, segmentation, and reconstruction.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Approach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819150"/>
            <a:ext cx="2641550" cy="1485900"/>
          </a:xfrm>
          <a:prstGeom prst="roundRect">
            <a:avLst>
              <a:gd name="adj" fmla="val 2564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1009650"/>
            <a:ext cx="23834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Sweep Configurations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543050"/>
            <a:ext cx="238348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optical flow with multiple parameter settings (window sizes, pyramid levels, iterations)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51150" y="819150"/>
            <a:ext cx="2641550" cy="1485900"/>
          </a:xfrm>
          <a:prstGeom prst="roundRect">
            <a:avLst>
              <a:gd name="adj" fmla="val 2564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03550" y="1009650"/>
            <a:ext cx="23834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Compute Quality Metrics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03550" y="1543050"/>
            <a:ext cx="238348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config, compute per-pixel photometric error and 3 flow errors: consistency, traction, and sensitivity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121301" y="819150"/>
            <a:ext cx="2641550" cy="1485900"/>
          </a:xfrm>
          <a:prstGeom prst="roundRect">
            <a:avLst>
              <a:gd name="adj" fmla="val 2564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73701" y="1009650"/>
            <a:ext cx="23834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Select Best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73701" y="1543050"/>
            <a:ext cx="238348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Per-pixel: choose config with lowest error. Per-image: choose config with best median.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1000" y="2571750"/>
            <a:ext cx="41582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Config (per-image)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1000" y="3048000"/>
            <a:ext cx="41582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single config based on metrics: either photometric error or the product of photometric and mean of the three flow errors.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86300" y="2571750"/>
            <a:ext cx="41582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(per-pixel)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86300" y="3048000"/>
            <a:ext cx="41582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config at each pixel. Adapts to scene — smooth regions vs boundaries.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1000" y="4191000"/>
            <a:ext cx="8382000" cy="571500"/>
          </a:xfrm>
          <a:prstGeom prst="roundRect">
            <a:avLst>
              <a:gd name="adj" fmla="val 6667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33400" y="434340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ground truth required — all metrics computed from image pair alone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Metrics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590550"/>
            <a:ext cx="4076700" cy="1981200"/>
          </a:xfrm>
          <a:prstGeom prst="roundRect">
            <a:avLst>
              <a:gd name="adj" fmla="val 1923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" y="704850"/>
            <a:ext cx="3963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6250" y="971550"/>
            <a:ext cx="39639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Log-RGB photometric error after warping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6250" y="1162050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1238250"/>
            <a:ext cx="38473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√[(log R₁ - log R₂)² + (log G₁ - log G₂)² + (log B₁ - log B₂)²]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6250" y="1657350"/>
            <a:ext cx="3886200" cy="8382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Log-space: robust to illumination changes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RGB: detects color errors invisible to grayscale algorithms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81000" y="2628900"/>
            <a:ext cx="4076700" cy="2133600"/>
          </a:xfrm>
          <a:prstGeom prst="roundRect">
            <a:avLst>
              <a:gd name="adj" fmla="val 1786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6250" y="2743200"/>
            <a:ext cx="3963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Errors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6250" y="3009900"/>
            <a:ext cx="3886200" cy="16764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forward vs backward flow difference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track translation perturbations in frame A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detect translation perturbations in frame B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86300" y="1476375"/>
            <a:ext cx="4076700" cy="762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81550" y="1590675"/>
            <a:ext cx="39639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Photo works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81550" y="1819275"/>
            <a:ext cx="396392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brightness constancy, photometric error scales with flow error wherever image gradients exist.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86300" y="2295525"/>
            <a:ext cx="4076700" cy="762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81550" y="2409825"/>
            <a:ext cx="39639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Flow Errors help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81550" y="2638425"/>
            <a:ext cx="396392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metrics measure algorithmic stability. For stable algorithms, they reduce noise in per-pixel selection.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86300" y="3114675"/>
            <a:ext cx="4076700" cy="762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81550" y="3228975"/>
            <a:ext cx="39639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81550" y="3457575"/>
            <a:ext cx="396392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metric depends on algorithm. Farneback: Photo wins. DIS: Product wins.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Farneback Results </a:t>
            </a:r>
            <a:r>
              <a:rPr lang="en-US" sz="13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(96 configurations)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3924300"/>
            <a:ext cx="4114800" cy="838200"/>
          </a:xfrm>
          <a:prstGeom prst="roundRect">
            <a:avLst>
              <a:gd name="adj" fmla="val 4545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4076700"/>
            <a:ext cx="3886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Ensemble beats Best Config by 5% — without ground truth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648200" y="4095750"/>
            <a:ext cx="4114800" cy="49530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00600" y="424815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Config:</a:t>
            </a: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EPE (rank/96) · </a:t>
            </a: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Ensemble:</a:t>
            </a: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EPE (% vs Best)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1" cy="2560320"/>
        </p:xfrm>
        <a:graphic>
          <a:graphicData uri="http://schemas.openxmlformats.org/drawingml/2006/table">
            <a:tbl>
              <a:tblPr/>
              <a:tblGrid>
                <a:gridCol w="1201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Sequence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Oracle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Best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Photo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Product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Photo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Product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Dimetrodon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0.51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0.61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0.61 (7)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0.92 (91)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0.60 (-1%)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0.74 (+21%)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Grove2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0.24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0.42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0.53 (89)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0.53 (90)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0.34 (-20%)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0.45 (+6%)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Grove3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0.57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1.05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1.07 (13)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1.10 (28)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0.93 (-12%)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1.05 (-1%)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Hydrangea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0.27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0.45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0.46 (15)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0.47 (31)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0.38 (-16%)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0.46 (+4%)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RubberWhale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0.32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0.32 (27)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0.32 (29)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0.24 (-22%)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0.28 (-10%)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Urban2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0.36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0.95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1.43 (38)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1.84 (47)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1.10 (+16%)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1.75 (+85%)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Urban3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1.17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2.19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2.37 (22)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3.29 (56)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2.14 (-3%)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3.20 (+46%)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Venus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1.26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1.56 (75)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1.39 (60)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1.16 (-8%)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1.31 (+4%)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Average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0.52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0.91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1.04 (36)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1.23 (54)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0.86 (-5%)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1.16 (+27%)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023360" y="6400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</a:rPr>
              <a:t>Blind Config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217920" y="6400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</a:rPr>
              <a:t>Ensemble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 Results </a:t>
            </a:r>
            <a:r>
              <a:rPr lang="en-US" sz="13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(96 configurations)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3924300"/>
            <a:ext cx="4114800" cy="838200"/>
          </a:xfrm>
          <a:prstGeom prst="roundRect">
            <a:avLst>
              <a:gd name="adj" fmla="val 4545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4076700"/>
            <a:ext cx="3886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Ensemble matches Best Config (+1%) — Photo fails (+20%)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648200" y="4000500"/>
            <a:ext cx="4114800" cy="68580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00600" y="4152900"/>
            <a:ext cx="388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algorithm, different metric.</a:t>
            </a: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 is inherently stable — per-pixel Photo adds noise.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1" cy="2560320"/>
        </p:xfrm>
        <a:graphic>
          <a:graphicData uri="http://schemas.openxmlformats.org/drawingml/2006/table">
            <a:tbl>
              <a:tblPr/>
              <a:tblGrid>
                <a:gridCol w="1201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Sequence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Oracle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Best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Photo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Product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Photo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Product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Dimetrodon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0.07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0.12 (41)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0.13 (43)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0.13 (+11%)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0.12 (+3%)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Grove2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0.15 (10)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0.15 (8)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0.18 (+21%)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0.15 (+3%)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Grove3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0.41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0.55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0.59 (12)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0.57 (6)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0.65 (+17%)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0.57 (+4%)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Hydrangea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0.17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0.18 (6)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0.18 (6)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0.20 (+18%)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0.18 (+4%)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RubberWhale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0.07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0.10 (8)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0.10 (7)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0.15 (+45%)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0.10 (+0%)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Urban2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0.25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0.41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0.41 (1)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0.41 (1)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0.53 (+28%)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0.38 (-9%)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Urban3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1.40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1.64 (13)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1.84 (42)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1.68 (+20%)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1.42 (+1%)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Venus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0.20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0.30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0.31 (21)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0.31 (18)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0.35 (+18%)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0.30 (+1%)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Average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0.26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0.40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0.44 (14)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0.46 (16)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0.48 (+20%)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0.40 (+1%)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5"/>
          <p:cNvSpPr/>
          <p:nvPr/>
        </p:nvSpPr>
        <p:spPr>
          <a:xfrm>
            <a:off x="4023360" y="6400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</a:rPr>
              <a:t>Blind Config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217920" y="6400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</a:rPr>
              <a:t>Ensemble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6750" y="1400175"/>
            <a:ext cx="8258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Self-supervised quality estimation with per-pixel uncertainty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66750" y="1704975"/>
            <a:ext cx="8258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Config selection ranks in top 40% without any labels.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66750" y="2162175"/>
            <a:ext cx="8258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Ensemble flows match or beat Best Config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66750" y="2466975"/>
            <a:ext cx="8258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Ensemble: -5% for Farneback. Product Ensemble: +1% for DIS. All without ground truth.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6750" y="2924175"/>
            <a:ext cx="8258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Ensemble approach suits heterogeneous scenes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66750" y="3228975"/>
            <a:ext cx="8258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windows for smooth flow, small windows for boundaries. Per-pixel selection captures this automatically.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66750" y="3686175"/>
            <a:ext cx="8258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Computational cost is 10-50× single config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6750" y="3990975"/>
            <a:ext cx="8258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However, config evaluations are independent and embarrassingly parallel — wall-clock approaches single-config with sufficient cores.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05656" y="762000"/>
            <a:ext cx="9326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076940" y="1638300"/>
            <a:ext cx="498997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Bef>
                <a:spcPts val="300"/>
              </a:spcBef>
              <a:spcAft>
                <a:spcPts val="30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when to trust your optical flow — </a:t>
            </a:r>
            <a:endParaRPr lang="en-US" sz="1800" dirty="0"/>
          </a:p>
          <a:p>
            <a:pPr marL="0" indent="0" algn="ctr">
              <a:lnSpc>
                <a:spcPts val="2400"/>
              </a:lnSpc>
              <a:spcBef>
                <a:spcPts val="300"/>
              </a:spcBef>
              <a:spcAft>
                <a:spcPts val="30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ground truth, without training, at runtime.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063055" y="2781300"/>
            <a:ext cx="1327696" cy="1600200"/>
          </a:xfrm>
          <a:prstGeom prst="roundRect">
            <a:avLst>
              <a:gd name="adj" fmla="val 287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67697" y="3009900"/>
            <a:ext cx="5184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-5%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288415" y="3581400"/>
            <a:ext cx="8769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Best Config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82951" y="4000500"/>
            <a:ext cx="8879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Farneback Photo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771751" y="2781300"/>
            <a:ext cx="1316980" cy="1600200"/>
          </a:xfrm>
          <a:prstGeom prst="roundRect">
            <a:avLst>
              <a:gd name="adj" fmla="val 2893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134450" y="3009900"/>
            <a:ext cx="59158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+1%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3991753" y="3581400"/>
            <a:ext cx="8769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Best Config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5930" y="4000500"/>
            <a:ext cx="6286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 Product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69731" y="2781300"/>
            <a:ext cx="1611064" cy="1600200"/>
          </a:xfrm>
          <a:prstGeom prst="roundRect">
            <a:avLst>
              <a:gd name="adj" fmla="val 2381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686793" y="3009900"/>
            <a:ext cx="117694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40%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5908429" y="3581400"/>
            <a:ext cx="7335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Config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80384" y="4000500"/>
            <a:ext cx="5896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GT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Sun et al. (2010)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81000" y="1009650"/>
            <a:ext cx="4596259" cy="2705100"/>
          </a:xfrm>
          <a:prstGeom prst="roundRect">
            <a:avLst>
              <a:gd name="adj" fmla="val 140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" y="1143000"/>
            <a:ext cx="44938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Secrets Adopted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6250" y="1524000"/>
            <a:ext cx="4405759" cy="20955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preprocessing: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Normalize/filter images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filtering: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5×5 after each warp iteration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Coarse-to-fine: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Multi-resolution pyramid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Texture decomposition: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ROF separation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Bicubic interpolation: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Spline-based warping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Graduated non-convexity: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Quadratic → robust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Generalized Charbonnier: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ρ(x)=(x²+ε²)^0.45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91559" y="990600"/>
            <a:ext cx="3671441" cy="80010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86809" y="1123950"/>
            <a:ext cx="35505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Paradox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186809" y="1352550"/>
            <a:ext cx="3550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filtering </a:t>
            </a: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increases energy</a:t>
            </a: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but </a:t>
            </a: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accuracy</a:t>
            </a: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Led to new objective with non-local term.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91559" y="1866900"/>
            <a:ext cx="3671441" cy="1866900"/>
          </a:xfrm>
          <a:prstGeom prst="roundRect">
            <a:avLst>
              <a:gd name="adj" fmla="val 204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86809" y="2000250"/>
            <a:ext cx="35505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Drawbacks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86809" y="2228850"/>
            <a:ext cx="3480941" cy="14097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cost: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~70 min/image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non-local term: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Complex implementation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per-pixel quality: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Single config for image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81000" y="4610100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Sun, Roth &amp; Black. "Secrets of Optical Flow Estimation and Their Principles." CVPR 2010.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569328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Quality Metrics — Detailed Formulations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81000" y="1371600"/>
            <a:ext cx="4114800" cy="1181100"/>
          </a:xfrm>
          <a:prstGeom prst="roundRect">
            <a:avLst>
              <a:gd name="adj" fmla="val 3226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" y="1504950"/>
            <a:ext cx="40027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Photometric Error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6250" y="1733550"/>
            <a:ext cx="40027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Log-RGB residual after warping: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6250" y="1924050"/>
            <a:ext cx="3924300" cy="30480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200025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√[Σ(log I_A^c - log I_B^c(x+u))²]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6250" y="2266950"/>
            <a:ext cx="40027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Log-space: robust to illumination. RGB: detects color errors.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1000" y="2628900"/>
            <a:ext cx="4114800" cy="1409700"/>
          </a:xfrm>
          <a:prstGeom prst="roundRect">
            <a:avLst>
              <a:gd name="adj" fmla="val 2703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6250" y="2762250"/>
            <a:ext cx="40027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Errors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6250" y="2990850"/>
            <a:ext cx="3924300" cy="9525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marL="57150" indent="-571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|u_fwd(x) + u_bwd(x + u_fwd)|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|u(A_shifted, B) - u(A,B) - δ| / |δ|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|u(A, B_shifted) - u(A,B) - δ| / |δ|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48200" y="1428750"/>
            <a:ext cx="4114800" cy="1162050"/>
          </a:xfrm>
          <a:prstGeom prst="roundRect">
            <a:avLst>
              <a:gd name="adj" fmla="val 327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43450" y="1562100"/>
            <a:ext cx="40027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Normalization: Pollution Depth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43450" y="1790700"/>
            <a:ext cx="3924300" cy="30480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00600" y="186690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 = pollution_depth² + displacement²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43450" y="2152650"/>
            <a:ext cx="400278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compensation:</a:t>
            </a: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Pollution depth is the smoothing radius. Squaring gives smoothing area — multiply to compensate for spatial averaging.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48200" y="2667000"/>
            <a:ext cx="4114800" cy="1314450"/>
          </a:xfrm>
          <a:prstGeom prst="roundRect">
            <a:avLst>
              <a:gd name="adj" fmla="val 289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43450" y="2800350"/>
            <a:ext cx="40027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Metric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43450" y="3028950"/>
            <a:ext cx="3924300" cy="45720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00600" y="3105150"/>
            <a:ext cx="3886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E_prod = E_photo × mean(consistency, traction, sensitivity)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43450" y="3543300"/>
            <a:ext cx="400278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Photometric is primary accuracy proxy. Flow errors provide stability weighting.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54503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Understanding Sensitivity and Texture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81000" y="1200150"/>
            <a:ext cx="4114800" cy="800100"/>
          </a:xfrm>
          <a:prstGeom prst="roundRect">
            <a:avLst>
              <a:gd name="adj" fmla="val 4762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" y="1333500"/>
            <a:ext cx="40027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Aperture Problem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6250" y="1562100"/>
            <a:ext cx="400278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regions with little texture or color variation, optical flow is underconstrained. Algorithm can only estimate motion perpendicular to local gradients.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2076450"/>
            <a:ext cx="4114800" cy="2133600"/>
          </a:xfrm>
          <a:prstGeom prst="roundRect">
            <a:avLst>
              <a:gd name="adj" fmla="val 1786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6250" y="2209800"/>
            <a:ext cx="40027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Larger Windows Help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6250" y="2438400"/>
            <a:ext cx="40027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low-texture patches: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6250" y="2628900"/>
            <a:ext cx="3924300" cy="11049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window: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Insufficient texture → erratic response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window: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Grabs surrounding texture → stable response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6250" y="3771900"/>
            <a:ext cx="400278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correctly identifies this — larger sampling = better flow in homogeneous regions.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48200" y="1085850"/>
            <a:ext cx="4114800" cy="1485900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43450" y="1219200"/>
            <a:ext cx="40027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Tradeoff at Boundaries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43450" y="1447800"/>
            <a:ext cx="40027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large windows cause problems at motion boundaries: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43450" y="1638300"/>
            <a:ext cx="3924300" cy="8382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texture: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Large window optimal ✓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boundary: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Small window optimal (avoid bleeding) ✗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48200" y="2647950"/>
            <a:ext cx="4114800" cy="1676400"/>
          </a:xfrm>
          <a:prstGeom prst="roundRect">
            <a:avLst>
              <a:gd name="adj" fmla="val 227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43450" y="2781300"/>
            <a:ext cx="40027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Implication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43450" y="3009900"/>
            <a:ext cx="400278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measures stability, not accuracy. Works best as </a:t>
            </a: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</a:t>
            </a: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photometric: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43450" y="3352800"/>
            <a:ext cx="3924300" cy="8763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Photometric: accurate where gradients exist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Sensitivity: stable in low-texture regions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Product: combines both signals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RAFT (2020)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81000" y="504825"/>
            <a:ext cx="4596259" cy="3600450"/>
          </a:xfrm>
          <a:prstGeom prst="roundRect">
            <a:avLst>
              <a:gd name="adj" fmla="val 105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" y="638175"/>
            <a:ext cx="44938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Innovations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6250" y="1019175"/>
            <a:ext cx="4405759" cy="14859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All-pairs correlation: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4D cost volume for all pixel pairs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Recurrent refinement: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GRU iteratively updates flow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Multi-scale lookups: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Correlation pyramid pooling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coarse-to-fine: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Single resolution, iterative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generalization: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Cross-dataset transfer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6250" y="2752725"/>
            <a:ext cx="44938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6250" y="3133725"/>
            <a:ext cx="4405759" cy="8763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KITTI: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5.10% F1-all (16% improvement)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Sintel: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2.86 EPE (30% improvement)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state-of-the-art architecture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91559" y="952500"/>
            <a:ext cx="3671441" cy="80010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86809" y="1085850"/>
            <a:ext cx="35505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Training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186809" y="1314450"/>
            <a:ext cx="3550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synthetic datasets (FlyingChairs, FlyingThings3D) with ground truth flow. Fine-tuned on target benchmarks.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91559" y="1828800"/>
            <a:ext cx="3671441" cy="80010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86809" y="1962150"/>
            <a:ext cx="35505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SMURF Extension (2021)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86809" y="2190750"/>
            <a:ext cx="3550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RAFT using photometric + bidirectional consistency losses. 36-40% improvement over prior unsupervised methods.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91559" y="2705100"/>
            <a:ext cx="3671441" cy="9525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186809" y="2838450"/>
            <a:ext cx="35505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 to SOFT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86809" y="3067050"/>
            <a:ext cx="355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RAFT is a single trained network; SOFT selects among classical algorithm configurations per-pixel. Complementary approaches for different use cases.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1000" y="4495800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Teed, Z. &amp; Deng, J. "RAFT: Recurrent All-Pairs Field Transforms for Optical Flow." ECCV 2020.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1000" y="4686300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Stone, A. et al. "SMURF: Self-Teaching Multi-Frame Unsupervised RAFT with Full-Image Warping." CVPR 2021.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number of data&#10;&#10;AI-generated content may be incorrect.">
            <a:extLst>
              <a:ext uri="{FF2B5EF4-FFF2-40B4-BE49-F238E27FC236}">
                <a16:creationId xmlns:a16="http://schemas.microsoft.com/office/drawing/2014/main" id="{8726DF3E-CE0F-1D1D-AFB5-617CCA2D4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50" y="401321"/>
            <a:ext cx="4552773" cy="4674722"/>
          </a:xfrm>
          <a:prstGeom prst="rect">
            <a:avLst/>
          </a:prstGeom>
        </p:spPr>
      </p:pic>
      <p:pic>
        <p:nvPicPr>
          <p:cNvPr id="5" name="Picture 4" descr="A graph of a number of data&#10;&#10;AI-generated content may be incorrect.">
            <a:extLst>
              <a:ext uri="{FF2B5EF4-FFF2-40B4-BE49-F238E27FC236}">
                <a16:creationId xmlns:a16="http://schemas.microsoft.com/office/drawing/2014/main" id="{D3E05109-DC0E-17B2-F732-1045BA27C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" y="404735"/>
            <a:ext cx="4625770" cy="46713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48F948-FFAD-130C-366C-25696BEC1621}"/>
              </a:ext>
            </a:extLst>
          </p:cNvPr>
          <p:cNvSpPr txBox="1"/>
          <p:nvPr/>
        </p:nvSpPr>
        <p:spPr>
          <a:xfrm>
            <a:off x="2577492" y="0"/>
            <a:ext cx="390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operating envelope for half-plane sprite</a:t>
            </a:r>
          </a:p>
        </p:txBody>
      </p:sp>
    </p:spTree>
    <p:extLst>
      <p:ext uri="{BB962C8B-B14F-4D97-AF65-F5344CB8AC3E}">
        <p14:creationId xmlns:p14="http://schemas.microsoft.com/office/powerpoint/2010/main" val="2264266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1714</Words>
  <Application>Microsoft Macintosh PowerPoint</Application>
  <PresentationFormat>On-screen Show (16:9)</PresentationFormat>
  <Paragraphs>310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SOFT: Self-Supervised Optical Flow Tuning</dc:title>
  <dc:subject>PptxGenJS Presentation</dc:subject>
  <dc:creator>Stephan Koehler</dc:creator>
  <cp:lastModifiedBy>Stephan Koehler</cp:lastModifiedBy>
  <cp:revision>3</cp:revision>
  <dcterms:created xsi:type="dcterms:W3CDTF">2025-12-09T18:03:57Z</dcterms:created>
  <dcterms:modified xsi:type="dcterms:W3CDTF">2025-12-09T18:16:21Z</dcterms:modified>
</cp:coreProperties>
</file>